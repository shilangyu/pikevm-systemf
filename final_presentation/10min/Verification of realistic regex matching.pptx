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8" r:id="rId18"/>
    <p:sldId id="275" r:id="rId19"/>
    <p:sldId id="279" r:id="rId20"/>
    <p:sldId id="280" r:id="rId21"/>
    <p:sldId id="281" r:id="rId22"/>
    <p:sldId id="282" r:id="rId23"/>
    <p:sldId id="291" r:id="rId24"/>
    <p:sldId id="292" r:id="rId25"/>
    <p:sldId id="293" r:id="rId26"/>
    <p:sldId id="294" r:id="rId27"/>
  </p:sldIdLst>
  <p:sldSz cx="9144000" cy="5143500" type="screen16x9"/>
  <p:notesSz cx="6858000" cy="9144000"/>
  <p:embeddedFontLst>
    <p:embeddedFont>
      <p:font typeface="Century Schoolbook" panose="02040604050505020304" pitchFamily="18" charset="0"/>
      <p:regular r:id="rId29"/>
      <p:bold r:id="rId30"/>
      <p:italic r:id="rId31"/>
      <p:boldItalic r:id="rId32"/>
    </p:embeddedFont>
    <p:embeddedFont>
      <p:font typeface="IBM Plex Mono" panose="020B0509050203000203" pitchFamily="49" charset="77"/>
      <p:regular r:id="rId33"/>
      <p:bold r:id="rId34"/>
      <p:italic r:id="rId35"/>
      <p:boldItalic r:id="rId36"/>
    </p:embeddedFont>
    <p:embeddedFont>
      <p:font typeface="IBM Plex Sans" panose="020B0503050203000203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575D20-A740-4EDF-8FED-4A0CEF14B626}">
  <a:tblStyle styleId="{E4575D20-A740-4EDF-8FED-4A0CEF14B6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55"/>
    <p:restoredTop sz="92603"/>
  </p:normalViewPr>
  <p:slideViewPr>
    <p:cSldViewPr snapToGrid="0">
      <p:cViewPr varScale="1">
        <p:scale>
          <a:sx n="117" d="100"/>
          <a:sy n="117" d="100"/>
        </p:scale>
        <p:origin x="192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a5c085b2_1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a5c085b2_1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 dirty="0"/>
              <a:t>Can we trust the optimizations of regex matching algorithms?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9c322f9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9c322f9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a5c085b2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6a5c085b2_1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How can these 5 cute rules be scary?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69c322f96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69c322f96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As we know references have no track record of making our lives difficult in computer science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6a5c085b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6a5c085b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6a5c085b2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6a5c085b2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Commonly known under the Oracle trademark of "JavaScript"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Safe to say we are dealing with non-toy semantics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a5c085b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6a5c085b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When cloudflare goes down, half of the internet goes down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These libraries do much more than what was formalized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6a5c085b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6a5c085b2_1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9c322f96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9c322f96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a5c085b2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6a5c085b2_1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 will colorcode with magenta my contributions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Bridge the gap between fast dangerous matching algorithms and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Verification: everything formalized and proven in Rocq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Realistic regex matching: not a toy example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6a5c085b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6a5c085b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 emphasis will be on prefix acceleration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6a5c085b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6a5c085b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RE2 which in turn is used by many other libraries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But other languages have reimplemented it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6a5c085b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6a5c085b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Extended NFA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6a5c085b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6a5c085b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6a5c085b2_1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6a5c085b2_1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Let's make this extension efficient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We use the information about regex literals to speed this up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6a5c085b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6a5c085b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6a5c085b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6a5c085b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6a5c085b2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6a5c085b2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6a5c085b2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6a5c085b2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7a5d412d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7a5d412d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Rebar tries to model real-world regex usage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7ae71d7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7ae71d7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Getting Qed was only part of the goal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This has been successful. The unanchored pikevm is just the pikevm with the counter initialized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Let's see what we need to bridge to prove the correctness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6a5c085b2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6a5c085b2_1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6a5c085b2_1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6a5c085b2_1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9c322f9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9c322f9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 have put a lot of care into making everything accessible and reproducible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entury Schoolbook"/>
              <a:buNone/>
              <a:defRPr sz="2800"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"/>
              <a:buNone/>
              <a:defRPr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Schoolbook"/>
              <a:buChar char="●"/>
              <a:defRPr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○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■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●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○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■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●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○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Schoolbook"/>
              <a:buChar char="■"/>
              <a:defRPr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shilangyu/pikevm-systemf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944325"/>
            <a:ext cx="8520600" cy="85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/>
              <a:t>Now you have zero problems:</a:t>
            </a:r>
            <a:br>
              <a:rPr lang="en-GB" sz="3600" b="1" dirty="0"/>
            </a:br>
            <a:r>
              <a:rPr lang="en-GB" sz="3600" b="1" dirty="0"/>
              <a:t>Verification of realistic regex matching</a:t>
            </a:r>
            <a:endParaRPr sz="3600"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Marcin Wojnarowski</a:t>
            </a:r>
            <a:endParaRPr sz="26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721" y="407550"/>
            <a:ext cx="2238904" cy="6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00" y="504850"/>
            <a:ext cx="1536276" cy="5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529100" y="4064350"/>
            <a:ext cx="60858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Supervisors:</a:t>
            </a:r>
            <a:r>
              <a:rPr lang="en-GB" sz="1600" dirty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Dr. Aurèle Barrière, Prof. Clément Pit-Claudel</a:t>
            </a:r>
            <a:endParaRPr sz="1600" dirty="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image-removebg-preview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31" y="1083838"/>
            <a:ext cx="7935525" cy="2975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6561221" y="3995153"/>
            <a:ext cx="197852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2"/>
                </a:solidFill>
              </a:rPr>
              <a:t>https://</a:t>
            </a:r>
            <a:r>
              <a:rPr lang="en-GB" dirty="0" err="1">
                <a:solidFill>
                  <a:schemeClr val="dk2"/>
                </a:solidFill>
              </a:rPr>
              <a:t>xkcd.com</a:t>
            </a:r>
            <a:r>
              <a:rPr lang="en-GB" dirty="0">
                <a:solidFill>
                  <a:schemeClr val="dk2"/>
                </a:solidFill>
              </a:rPr>
              <a:t>/1171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B8906-233F-1BE6-19C8-8371E8418236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1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the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100" y="1369498"/>
            <a:ext cx="4121499" cy="2404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083752-439E-35AF-B74E-CFB5E678A176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2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Modern syntax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50" y="1017725"/>
            <a:ext cx="7572101" cy="39709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2338DC-AA2F-EA0D-5389-37AA01A34540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3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Modern semantics: fundamental questions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Given a regex </a:t>
            </a:r>
            <a:r>
              <a:rPr lang="en-GB" dirty="0">
                <a:latin typeface="IBM Plex Mono"/>
                <a:ea typeface="IBM Plex Mono"/>
                <a:cs typeface="IBM Plex Mono"/>
                <a:sym typeface="IBM Plex Mono"/>
              </a:rPr>
              <a:t>r</a:t>
            </a:r>
            <a:r>
              <a:rPr lang="en-GB" dirty="0"/>
              <a:t> and string </a:t>
            </a:r>
            <a:r>
              <a:rPr lang="en-GB" dirty="0">
                <a:latin typeface="IBM Plex Mono"/>
                <a:ea typeface="IBM Plex Mono"/>
                <a:cs typeface="IBM Plex Mono"/>
                <a:sym typeface="IBM Plex Mono"/>
              </a:rPr>
              <a:t>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Does </a:t>
            </a:r>
            <a:r>
              <a:rPr lang="en-GB" dirty="0">
                <a:latin typeface="IBM Plex Mono"/>
                <a:ea typeface="IBM Plex Mono"/>
                <a:cs typeface="IBM Plex Mono"/>
                <a:sym typeface="IBM Plex Mono"/>
              </a:rPr>
              <a:t>r</a:t>
            </a:r>
            <a:r>
              <a:rPr lang="en-GB" dirty="0"/>
              <a:t> match in </a:t>
            </a:r>
            <a:r>
              <a:rPr lang="en-GB" dirty="0">
                <a:latin typeface="IBM Plex Mono"/>
                <a:ea typeface="IBM Plex Mono"/>
                <a:cs typeface="IBM Plex Mono"/>
                <a:sym typeface="IBM Plex Mono"/>
              </a:rPr>
              <a:t>s</a:t>
            </a:r>
            <a:r>
              <a:rPr lang="en-GB" dirty="0"/>
              <a:t>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Where is the highest priority match?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What are the values of capture groups?</a:t>
            </a:r>
            <a:endParaRPr dirty="0"/>
          </a:p>
        </p:txBody>
      </p:sp>
      <p:sp>
        <p:nvSpPr>
          <p:cNvPr id="88" name="Google Shape;88;p18"/>
          <p:cNvSpPr txBox="1"/>
          <p:nvPr/>
        </p:nvSpPr>
        <p:spPr>
          <a:xfrm>
            <a:off x="3712650" y="3544625"/>
            <a:ext cx="171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IBM Plex Mono"/>
                <a:ea typeface="IBM Plex Mono"/>
                <a:cs typeface="IBM Plex Mono"/>
                <a:sym typeface="IBM Plex Mono"/>
              </a:rPr>
              <a:t>/</a:t>
            </a:r>
            <a:r>
              <a:rPr lang="en-GB" sz="1700">
                <a:highlight>
                  <a:srgbClr val="9FC5E8"/>
                </a:highlight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GB" sz="1700">
                <a:highlight>
                  <a:srgbClr val="FFE599"/>
                </a:highlight>
                <a:latin typeface="IBM Plex Mono"/>
                <a:ea typeface="IBM Plex Mono"/>
                <a:cs typeface="IBM Plex Mono"/>
                <a:sym typeface="IBM Plex Mono"/>
              </a:rPr>
              <a:t>(b|be)</a:t>
            </a:r>
            <a:r>
              <a:rPr lang="en-GB" sz="1700">
                <a:highlight>
                  <a:srgbClr val="EA9999"/>
                </a:highlight>
                <a:latin typeface="IBM Plex Mono"/>
                <a:ea typeface="IBM Plex Mono"/>
                <a:cs typeface="IBM Plex Mono"/>
                <a:sym typeface="IBM Plex Mono"/>
              </a:rPr>
              <a:t>w+</a:t>
            </a:r>
            <a:r>
              <a:rPr lang="en-GB" sz="1700">
                <a:latin typeface="IBM Plex Mono"/>
                <a:ea typeface="IBM Plex Mono"/>
                <a:cs typeface="IBM Plex Mono"/>
                <a:sym typeface="IBM Plex Mono"/>
              </a:rPr>
              <a:t>/</a:t>
            </a:r>
            <a:endParaRPr sz="17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3403142" y="4040700"/>
            <a:ext cx="233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8761D"/>
                </a:solidFill>
                <a:latin typeface="IBM Plex Mono"/>
                <a:ea typeface="IBM Plex Mono"/>
                <a:cs typeface="IBM Plex Mono"/>
                <a:sym typeface="IBM Plex Mono"/>
              </a:rPr>
              <a:t>"ababccccc</a:t>
            </a:r>
            <a:r>
              <a:rPr lang="en-GB" sz="1700">
                <a:solidFill>
                  <a:srgbClr val="38761D"/>
                </a:solidFill>
                <a:highlight>
                  <a:srgbClr val="9FC5E8"/>
                </a:highlight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GB" sz="1700">
                <a:solidFill>
                  <a:srgbClr val="38761D"/>
                </a:solidFill>
                <a:highlight>
                  <a:srgbClr val="FFE599"/>
                </a:highlight>
                <a:latin typeface="IBM Plex Mono"/>
                <a:ea typeface="IBM Plex Mono"/>
                <a:cs typeface="IBM Plex Mono"/>
                <a:sym typeface="IBM Plex Mono"/>
              </a:rPr>
              <a:t>be</a:t>
            </a:r>
            <a:r>
              <a:rPr lang="en-GB" sz="1700">
                <a:solidFill>
                  <a:srgbClr val="38761D"/>
                </a:solidFill>
                <a:highlight>
                  <a:srgbClr val="EA9999"/>
                </a:highlight>
                <a:latin typeface="IBM Plex Mono"/>
                <a:ea typeface="IBM Plex Mono"/>
                <a:cs typeface="IBM Plex Mono"/>
                <a:sym typeface="IBM Plex Mono"/>
              </a:rPr>
              <a:t>ww</a:t>
            </a:r>
            <a:r>
              <a:rPr lang="en-GB" sz="1700">
                <a:solidFill>
                  <a:srgbClr val="38761D"/>
                </a:solidFill>
                <a:latin typeface="IBM Plex Mono"/>
                <a:ea typeface="IBM Plex Mono"/>
                <a:cs typeface="IBM Plex Mono"/>
                <a:sym typeface="IBM Plex Mono"/>
              </a:rPr>
              <a:t>"</a:t>
            </a:r>
            <a:endParaRPr sz="1700">
              <a:solidFill>
                <a:srgbClr val="3876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33B76-13AB-73E1-8014-6B261CB7317F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4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 backtracking semantics used by anyone?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56500" cy="4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ECMAScript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C++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Python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Rust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Java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Golang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.NET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Perl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PHP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Dart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Ruby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Raku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Julia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D</a:t>
            </a:r>
            <a:endParaRPr sz="1850"/>
          </a:p>
          <a:p>
            <a:pPr marL="457200" lvl="0" indent="-3460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-GB" sz="1850"/>
              <a:t>Erlang</a:t>
            </a:r>
            <a:endParaRPr sz="1850"/>
          </a:p>
        </p:txBody>
      </p:sp>
      <p:sp>
        <p:nvSpPr>
          <p:cNvPr id="108" name="Google Shape;108;p20"/>
          <p:cNvSpPr txBox="1"/>
          <p:nvPr/>
        </p:nvSpPr>
        <p:spPr>
          <a:xfrm>
            <a:off x="5837749" y="2571759"/>
            <a:ext cx="1379479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Yes.</a:t>
            </a:r>
            <a:endParaRPr sz="4400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43365-31D4-A211-4C25-8AB80AC870E8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5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formalize?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88" y="1136750"/>
            <a:ext cx="8339625" cy="202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37" y="3202175"/>
            <a:ext cx="8301727" cy="17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575" y="1599075"/>
            <a:ext cx="8258852" cy="289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575" y="1893475"/>
            <a:ext cx="8258849" cy="10397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93477B-185F-7C9F-CA37-868C3772433A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6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Previous work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Verified: full backtracking semantics in Rocq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Safe: mechanized and proven correct linear-time matching algorithm (PikeVM)</a:t>
            </a:r>
            <a:endParaRPr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8A9FC-9036-446B-9280-807BC96991F9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7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5400800" y="3811125"/>
            <a:ext cx="14967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Literal tries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756125" y="4321900"/>
            <a:ext cx="6774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JIT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3117825" y="4470150"/>
            <a:ext cx="30000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Multiple needles searches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2806875" y="2794500"/>
            <a:ext cx="8916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SIMD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1072175" y="3736950"/>
            <a:ext cx="22584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Impossible matches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5715000" y="3152100"/>
            <a:ext cx="22584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Combining engines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257775" y="2187475"/>
            <a:ext cx="12804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Heuristics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618625" y="2398050"/>
            <a:ext cx="20817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Reverse searches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5538225" y="1567400"/>
            <a:ext cx="21627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Anchored searches</a:t>
            </a:r>
            <a:endParaRPr sz="175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894875" y="1567400"/>
            <a:ext cx="2133300" cy="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50"/>
              <a:t>Prefix acceleration</a:t>
            </a:r>
            <a:endParaRPr sz="1750"/>
          </a:p>
        </p:txBody>
      </p:sp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Modern optimizations</a:t>
            </a:r>
            <a:endParaRPr/>
          </a:p>
        </p:txBody>
      </p:sp>
      <p:cxnSp>
        <p:nvCxnSpPr>
          <p:cNvPr id="139" name="Google Shape;139;p23"/>
          <p:cNvCxnSpPr>
            <a:stCxn id="134" idx="1"/>
            <a:endCxn id="137" idx="3"/>
          </p:cNvCxnSpPr>
          <p:nvPr/>
        </p:nvCxnSpPr>
        <p:spPr>
          <a:xfrm rot="10800000">
            <a:off x="3028075" y="1794325"/>
            <a:ext cx="1229700" cy="62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140;p23"/>
          <p:cNvCxnSpPr>
            <a:stCxn id="134" idx="1"/>
            <a:endCxn id="136" idx="1"/>
          </p:cNvCxnSpPr>
          <p:nvPr/>
        </p:nvCxnSpPr>
        <p:spPr>
          <a:xfrm rot="10800000" flipH="1">
            <a:off x="4257775" y="1794325"/>
            <a:ext cx="1280400" cy="62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23"/>
          <p:cNvCxnSpPr>
            <a:stCxn id="135" idx="0"/>
            <a:endCxn id="137" idx="2"/>
          </p:cNvCxnSpPr>
          <p:nvPr/>
        </p:nvCxnSpPr>
        <p:spPr>
          <a:xfrm rot="10800000" flipH="1">
            <a:off x="1659475" y="2021250"/>
            <a:ext cx="302100" cy="37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p23"/>
          <p:cNvCxnSpPr>
            <a:stCxn id="135" idx="2"/>
            <a:endCxn id="136" idx="1"/>
          </p:cNvCxnSpPr>
          <p:nvPr/>
        </p:nvCxnSpPr>
        <p:spPr>
          <a:xfrm rot="10800000" flipH="1">
            <a:off x="1659475" y="1794450"/>
            <a:ext cx="3878700" cy="105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p23"/>
          <p:cNvCxnSpPr>
            <a:stCxn id="135" idx="2"/>
            <a:endCxn id="130" idx="0"/>
          </p:cNvCxnSpPr>
          <p:nvPr/>
        </p:nvCxnSpPr>
        <p:spPr>
          <a:xfrm>
            <a:off x="1659475" y="2851950"/>
            <a:ext cx="2958300" cy="161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23"/>
          <p:cNvCxnSpPr>
            <a:stCxn id="128" idx="1"/>
            <a:endCxn id="130" idx="0"/>
          </p:cNvCxnSpPr>
          <p:nvPr/>
        </p:nvCxnSpPr>
        <p:spPr>
          <a:xfrm flipH="1">
            <a:off x="4617800" y="4038075"/>
            <a:ext cx="783000" cy="43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" name="Google Shape;145;p23"/>
          <p:cNvCxnSpPr>
            <a:stCxn id="134" idx="2"/>
            <a:endCxn id="133" idx="0"/>
          </p:cNvCxnSpPr>
          <p:nvPr/>
        </p:nvCxnSpPr>
        <p:spPr>
          <a:xfrm>
            <a:off x="4897975" y="2641375"/>
            <a:ext cx="1946100" cy="51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46;p23"/>
          <p:cNvCxnSpPr>
            <a:stCxn id="133" idx="1"/>
            <a:endCxn id="129" idx="3"/>
          </p:cNvCxnSpPr>
          <p:nvPr/>
        </p:nvCxnSpPr>
        <p:spPr>
          <a:xfrm flipH="1">
            <a:off x="1433400" y="3379050"/>
            <a:ext cx="4281600" cy="116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23"/>
          <p:cNvCxnSpPr>
            <a:stCxn id="131" idx="0"/>
            <a:endCxn id="137" idx="2"/>
          </p:cNvCxnSpPr>
          <p:nvPr/>
        </p:nvCxnSpPr>
        <p:spPr>
          <a:xfrm rot="10800000">
            <a:off x="1961475" y="2021400"/>
            <a:ext cx="1291200" cy="77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" name="Google Shape;148;p23"/>
          <p:cNvCxnSpPr>
            <a:stCxn id="132" idx="0"/>
            <a:endCxn id="136" idx="2"/>
          </p:cNvCxnSpPr>
          <p:nvPr/>
        </p:nvCxnSpPr>
        <p:spPr>
          <a:xfrm rot="10800000" flipH="1">
            <a:off x="2201375" y="2021250"/>
            <a:ext cx="4418100" cy="171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36E1E1-D415-98E0-A660-8A44F0D5892A}"/>
              </a:ext>
            </a:extLst>
          </p:cNvPr>
          <p:cNvSpPr txBox="1"/>
          <p:nvPr/>
        </p:nvSpPr>
        <p:spPr>
          <a:xfrm>
            <a:off x="6946233" y="96253"/>
            <a:ext cx="2173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8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Previous work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Verified: full backtracking semantics in Rocq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Safe: mechanized and proven correct linear-time matching algorithm (PikeVM)</a:t>
            </a:r>
            <a:endParaRPr sz="16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311700" y="2333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work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311700" y="3040625"/>
            <a:ext cx="8520600" cy="16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3.   </a:t>
            </a:r>
            <a:r>
              <a:rPr lang="en-GB" sz="1600">
                <a:solidFill>
                  <a:srgbClr val="C27BA0"/>
                </a:solidFill>
              </a:rPr>
              <a:t>Realistic:</a:t>
            </a:r>
            <a:r>
              <a:rPr lang="en-GB" sz="1600"/>
              <a:t> </a:t>
            </a:r>
            <a:r>
              <a:rPr lang="en-GB" sz="1600">
                <a:solidFill>
                  <a:srgbClr val="C27BA0"/>
                </a:solidFill>
              </a:rPr>
              <a:t>mechanized and proven correct optimizations to speed up matching</a:t>
            </a:r>
            <a:endParaRPr sz="1600">
              <a:solidFill>
                <a:srgbClr val="C27BA0"/>
              </a:solidFill>
            </a:endParaRPr>
          </a:p>
          <a:p>
            <a:pPr marL="914400" lvl="0" indent="-30734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Prefix acceleration</a:t>
            </a:r>
            <a:endParaRPr sz="1600">
              <a:solidFill>
                <a:schemeClr val="dk1"/>
              </a:solidFill>
            </a:endParaRPr>
          </a:p>
          <a:p>
            <a:pPr marL="1371600" lvl="1" indent="-3073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Literal extraction</a:t>
            </a:r>
            <a:endParaRPr sz="1600">
              <a:solidFill>
                <a:schemeClr val="dk1"/>
              </a:solidFill>
            </a:endParaRPr>
          </a:p>
          <a:p>
            <a:pPr marL="1371600" lvl="1" indent="-3073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Substring searches</a:t>
            </a:r>
            <a:endParaRPr sz="1600">
              <a:solidFill>
                <a:schemeClr val="dk1"/>
              </a:solidFill>
            </a:endParaRPr>
          </a:p>
          <a:p>
            <a:pPr marL="914400" lvl="0" indent="-3073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Meta engine</a:t>
            </a:r>
            <a:endParaRPr sz="1600">
              <a:solidFill>
                <a:schemeClr val="dk1"/>
              </a:solidFill>
            </a:endParaRPr>
          </a:p>
          <a:p>
            <a:pPr marL="1371600" lvl="1" indent="-3073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Anchored searches</a:t>
            </a:r>
            <a:endParaRPr sz="1600">
              <a:solidFill>
                <a:schemeClr val="dk1"/>
              </a:solidFill>
            </a:endParaRPr>
          </a:p>
          <a:p>
            <a:pPr marL="1371600" lvl="1" indent="-3073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Impossible matches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7930E-14A4-C11B-0712-2BA61A596EFB}"/>
              </a:ext>
            </a:extLst>
          </p:cNvPr>
          <p:cNvSpPr txBox="1"/>
          <p:nvPr/>
        </p:nvSpPr>
        <p:spPr>
          <a:xfrm>
            <a:off x="6793832" y="96253"/>
            <a:ext cx="232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9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ctrTitle"/>
          </p:nvPr>
        </p:nvSpPr>
        <p:spPr>
          <a:xfrm>
            <a:off x="311700" y="2004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/>
              <a:t>Verification of realistic regex matching</a:t>
            </a:r>
            <a:endParaRPr sz="3600" b="1"/>
          </a:p>
        </p:txBody>
      </p:sp>
      <p:sp>
        <p:nvSpPr>
          <p:cNvPr id="162" name="Google Shape;162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Marcin Wojnarowski</a:t>
            </a:r>
            <a:endParaRPr sz="2600"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721" y="407550"/>
            <a:ext cx="2238904" cy="6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00" y="504850"/>
            <a:ext cx="1536276" cy="5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1529100" y="4064350"/>
            <a:ext cx="60858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Supervisors:</a:t>
            </a:r>
            <a:r>
              <a:rPr lang="en-GB" sz="1600" dirty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dr. Aurèle Barrière, prof. Clément Pit-Claudel</a:t>
            </a:r>
            <a:endParaRPr sz="1600" dirty="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250" y="1783838"/>
            <a:ext cx="1594974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5975" y="1760300"/>
            <a:ext cx="1434375" cy="4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5570350" y="1713375"/>
            <a:ext cx="27204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+ </a:t>
            </a:r>
            <a:r>
              <a:rPr lang="en-GB" sz="2000" b="1">
                <a:solidFill>
                  <a:srgbClr val="C27BA0"/>
                </a:solidFill>
                <a:latin typeface="IBM Plex Mono"/>
                <a:ea typeface="IBM Plex Mono"/>
                <a:cs typeface="IBM Plex Mono"/>
                <a:sym typeface="IBM Plex Mono"/>
              </a:rPr>
              <a:t>optimizations</a:t>
            </a:r>
            <a:endParaRPr sz="2000" b="1">
              <a:solidFill>
                <a:srgbClr val="C27BA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 err="1"/>
              <a:t>PikeVM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 dirty="0"/>
              <a:t>Prefix acceleration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-PL" dirty="0" err="1"/>
              <a:t>Conclusions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187F8-949A-8701-F939-BA382F2E0761}"/>
              </a:ext>
            </a:extLst>
          </p:cNvPr>
          <p:cNvSpPr txBox="1"/>
          <p:nvPr/>
        </p:nvSpPr>
        <p:spPr>
          <a:xfrm>
            <a:off x="6793832" y="96253"/>
            <a:ext cx="232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Introduction    |    11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PikeVM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2543400" y="1095375"/>
            <a:ext cx="7653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Rust</a:t>
            </a:r>
            <a:endParaRPr sz="19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522600" y="1095375"/>
            <a:ext cx="10734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Golang</a:t>
            </a:r>
            <a:endParaRPr sz="19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2593050" y="3431900"/>
            <a:ext cx="6660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RE2</a:t>
            </a:r>
            <a:endParaRPr sz="19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807900" y="3431900"/>
            <a:ext cx="5028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V8</a:t>
            </a:r>
            <a:endParaRPr sz="19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4" name="Google Shape;184;p27"/>
          <p:cNvCxnSpPr>
            <a:stCxn id="179" idx="0"/>
            <a:endCxn id="180" idx="3"/>
          </p:cNvCxnSpPr>
          <p:nvPr/>
        </p:nvCxnSpPr>
        <p:spPr>
          <a:xfrm rot="5400000" flipH="1">
            <a:off x="3534750" y="1113600"/>
            <a:ext cx="811200" cy="12633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5" name="Google Shape;185;p27"/>
          <p:cNvCxnSpPr>
            <a:stCxn id="179" idx="0"/>
            <a:endCxn id="181" idx="1"/>
          </p:cNvCxnSpPr>
          <p:nvPr/>
        </p:nvCxnSpPr>
        <p:spPr>
          <a:xfrm rot="-5400000">
            <a:off x="4641750" y="1269900"/>
            <a:ext cx="811200" cy="9507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Google Shape;186;p27"/>
          <p:cNvCxnSpPr>
            <a:stCxn id="179" idx="2"/>
            <a:endCxn id="182" idx="3"/>
          </p:cNvCxnSpPr>
          <p:nvPr/>
        </p:nvCxnSpPr>
        <p:spPr>
          <a:xfrm rot="5400000">
            <a:off x="3573750" y="2678100"/>
            <a:ext cx="683700" cy="13128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7" name="Google Shape;187;p27"/>
          <p:cNvCxnSpPr>
            <a:stCxn id="179" idx="2"/>
            <a:endCxn id="183" idx="1"/>
          </p:cNvCxnSpPr>
          <p:nvPr/>
        </p:nvCxnSpPr>
        <p:spPr>
          <a:xfrm rot="-5400000" flipH="1">
            <a:off x="4848150" y="2716500"/>
            <a:ext cx="683700" cy="1236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EA6DAB-CBA3-1408-8765-4B9B32D7EBBF}"/>
              </a:ext>
            </a:extLst>
          </p:cNvPr>
          <p:cNvSpPr txBox="1"/>
          <p:nvPr/>
        </p:nvSpPr>
        <p:spPr>
          <a:xfrm>
            <a:off x="7194884" y="96253"/>
            <a:ext cx="192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IBM Plex Sans" panose="020B0503050203000203" pitchFamily="34" charset="0"/>
              </a:rPr>
              <a:t>PikeVM</a:t>
            </a:r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   |    12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8"/>
          <p:cNvPicPr preferRelativeResize="0"/>
          <p:nvPr/>
        </p:nvPicPr>
        <p:blipFill rotWithShape="1">
          <a:blip r:embed="rId3">
            <a:alphaModFix/>
          </a:blip>
          <a:srcRect t="862" r="75334"/>
          <a:stretch/>
        </p:blipFill>
        <p:spPr>
          <a:xfrm>
            <a:off x="2013041" y="360225"/>
            <a:ext cx="1262374" cy="446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50" y="2451613"/>
            <a:ext cx="1313574" cy="2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 rotWithShape="1">
          <a:blip r:embed="rId3">
            <a:alphaModFix/>
          </a:blip>
          <a:srcRect l="25617" t="860" b="65124"/>
          <a:stretch/>
        </p:blipFill>
        <p:spPr>
          <a:xfrm>
            <a:off x="3546050" y="360225"/>
            <a:ext cx="3806849" cy="153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l="25617" t="35199" b="41320"/>
          <a:stretch/>
        </p:blipFill>
        <p:spPr>
          <a:xfrm>
            <a:off x="3546050" y="1968975"/>
            <a:ext cx="3806849" cy="10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3">
            <a:alphaModFix/>
          </a:blip>
          <a:srcRect l="25617" t="58752"/>
          <a:stretch/>
        </p:blipFill>
        <p:spPr>
          <a:xfrm>
            <a:off x="3546050" y="3025749"/>
            <a:ext cx="3806849" cy="18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718EE6-D131-86E3-EB25-4F8FA0890FCF}"/>
              </a:ext>
            </a:extLst>
          </p:cNvPr>
          <p:cNvSpPr txBox="1"/>
          <p:nvPr/>
        </p:nvSpPr>
        <p:spPr>
          <a:xfrm>
            <a:off x="7194884" y="96253"/>
            <a:ext cx="192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IBM Plex Sans" panose="020B0503050203000203" pitchFamily="34" charset="0"/>
              </a:rPr>
              <a:t>PikeVM</a:t>
            </a:r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   |    13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311700" y="2091150"/>
            <a:ext cx="8520600" cy="9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38761D"/>
                </a:solidFill>
                <a:latin typeface="IBM Plex Mono"/>
                <a:ea typeface="IBM Plex Mono"/>
                <a:cs typeface="IBM Plex Mono"/>
                <a:sym typeface="IBM Plex Mono"/>
              </a:rPr>
              <a:t>"ababccccc</a:t>
            </a:r>
            <a:r>
              <a:rPr lang="en-GB" sz="2600">
                <a:solidFill>
                  <a:srgbClr val="38761D"/>
                </a:solidFill>
                <a:highlight>
                  <a:srgbClr val="9FC5E8"/>
                </a:highlight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GB" sz="2600">
                <a:solidFill>
                  <a:srgbClr val="38761D"/>
                </a:solidFill>
                <a:highlight>
                  <a:srgbClr val="FFE599"/>
                </a:highlight>
                <a:latin typeface="IBM Plex Mono"/>
                <a:ea typeface="IBM Plex Mono"/>
                <a:cs typeface="IBM Plex Mono"/>
                <a:sym typeface="IBM Plex Mono"/>
              </a:rPr>
              <a:t>be</a:t>
            </a:r>
            <a:r>
              <a:rPr lang="en-GB" sz="2600">
                <a:solidFill>
                  <a:srgbClr val="38761D"/>
                </a:solidFill>
                <a:highlight>
                  <a:srgbClr val="EA9999"/>
                </a:highlight>
                <a:latin typeface="IBM Plex Mono"/>
                <a:ea typeface="IBM Plex Mono"/>
                <a:cs typeface="IBM Plex Mono"/>
                <a:sym typeface="IBM Plex Mono"/>
              </a:rPr>
              <a:t>ww</a:t>
            </a:r>
            <a:r>
              <a:rPr lang="en-GB" sz="2600">
                <a:solidFill>
                  <a:srgbClr val="38761D"/>
                </a:solidFill>
                <a:latin typeface="IBM Plex Mono"/>
                <a:ea typeface="IBM Plex Mono"/>
                <a:cs typeface="IBM Plex Mono"/>
                <a:sym typeface="IBM Plex Mono"/>
              </a:rPr>
              <a:t>"</a:t>
            </a:r>
            <a:endParaRPr sz="2600">
              <a:solidFill>
                <a:srgbClr val="3876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700"/>
              <a:t>But… there is a match!</a:t>
            </a:r>
            <a:endParaRPr sz="2700"/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1"/>
          </p:nvPr>
        </p:nvSpPr>
        <p:spPr>
          <a:xfrm>
            <a:off x="311700" y="3278075"/>
            <a:ext cx="85206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u="sng"/>
              <a:t>Anchored vs unanchored</a:t>
            </a:r>
            <a:endParaRPr sz="2000" u="sng"/>
          </a:p>
        </p:txBody>
      </p:sp>
      <p:sp>
        <p:nvSpPr>
          <p:cNvPr id="203" name="Google Shape;203;p29"/>
          <p:cNvSpPr txBox="1">
            <a:spLocks noGrp="1"/>
          </p:cNvSpPr>
          <p:nvPr>
            <p:ph type="body" idx="1"/>
          </p:nvPr>
        </p:nvSpPr>
        <p:spPr>
          <a:xfrm>
            <a:off x="311700" y="3960275"/>
            <a:ext cx="85206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/>
              <a:t>Just run the anchored engine at every position</a:t>
            </a:r>
            <a:endParaRPr sz="2000"/>
          </a:p>
        </p:txBody>
      </p:sp>
      <p:sp>
        <p:nvSpPr>
          <p:cNvPr id="204" name="Google Shape;204;p29"/>
          <p:cNvSpPr txBox="1">
            <a:spLocks noGrp="1"/>
          </p:cNvSpPr>
          <p:nvPr>
            <p:ph type="body" idx="1"/>
          </p:nvPr>
        </p:nvSpPr>
        <p:spPr>
          <a:xfrm>
            <a:off x="311700" y="4379675"/>
            <a:ext cx="85206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𝑂(|𝑟| ⋅ |𝑠|</a:t>
            </a:r>
            <a:r>
              <a:rPr lang="en-GB" baseline="30000"/>
              <a:t>2</a:t>
            </a:r>
            <a:r>
              <a:rPr lang="en-GB"/>
              <a:t>) nevermind…</a:t>
            </a:r>
            <a:endParaRPr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9F4EC-274F-E928-8C33-8CBDE35A0CD0}"/>
              </a:ext>
            </a:extLst>
          </p:cNvPr>
          <p:cNvSpPr txBox="1"/>
          <p:nvPr/>
        </p:nvSpPr>
        <p:spPr>
          <a:xfrm>
            <a:off x="7194884" y="96253"/>
            <a:ext cx="192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IBM Plex Sans" panose="020B0503050203000203" pitchFamily="34" charset="0"/>
              </a:rPr>
              <a:t>PikeVM</a:t>
            </a:r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   |    14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make the PikeVM unanchored?</a:t>
            </a:r>
            <a:endParaRPr/>
          </a:p>
        </p:txBody>
      </p:sp>
      <p:graphicFrame>
        <p:nvGraphicFramePr>
          <p:cNvPr id="210" name="Google Shape;210;p30"/>
          <p:cNvGraphicFramePr/>
          <p:nvPr/>
        </p:nvGraphicFramePr>
        <p:xfrm>
          <a:off x="2441850" y="2372763"/>
          <a:ext cx="4260300" cy="1465330"/>
        </p:xfrm>
        <a:graphic>
          <a:graphicData uri="http://schemas.openxmlformats.org/drawingml/2006/table">
            <a:tbl>
              <a:tblPr>
                <a:noFill/>
                <a:tableStyleId>{E4575D20-A740-4EDF-8FED-4A0CEF14B626}</a:tableStyleId>
              </a:tblPr>
              <a:tblGrid>
                <a:gridCol w="195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Before</a:t>
                      </a:r>
                      <a:endParaRPr sz="2200">
                        <a:solidFill>
                          <a:schemeClr val="dk2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After</a:t>
                      </a:r>
                      <a:endParaRPr sz="2200">
                        <a:solidFill>
                          <a:schemeClr val="dk2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Active = Blocked</a:t>
                      </a:r>
                      <a:endParaRPr sz="1500">
                        <a:solidFill>
                          <a:schemeClr val="dk2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Blocked = [ ]</a:t>
                      </a:r>
                      <a:endParaRPr sz="1500">
                        <a:solidFill>
                          <a:schemeClr val="dk2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Active = Blocked ++ [</a:t>
                      </a:r>
                      <a:r>
                        <a:rPr lang="en-GB" sz="1500">
                          <a:solidFill>
                            <a:srgbClr val="45818E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𝜶</a:t>
                      </a:r>
                      <a:r>
                        <a:rPr lang="en-GB" sz="15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]</a:t>
                      </a:r>
                      <a:endParaRPr sz="1500">
                        <a:solidFill>
                          <a:schemeClr val="dk2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2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Blocked = [ ]</a:t>
                      </a:r>
                      <a:endParaRPr sz="1500">
                        <a:solidFill>
                          <a:schemeClr val="dk1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9460AA-13B8-3DD4-6A58-C97CC6B43824}"/>
              </a:ext>
            </a:extLst>
          </p:cNvPr>
          <p:cNvSpPr txBox="1"/>
          <p:nvPr/>
        </p:nvSpPr>
        <p:spPr>
          <a:xfrm>
            <a:off x="7194884" y="96253"/>
            <a:ext cx="192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IBM Plex Sans" panose="020B0503050203000203" pitchFamily="34" charset="0"/>
              </a:rPr>
              <a:t>PikeVM</a:t>
            </a:r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   |    15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 acceleration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4294967295"/>
          </p:nvPr>
        </p:nvSpPr>
        <p:spPr>
          <a:xfrm>
            <a:off x="1319250" y="3070875"/>
            <a:ext cx="6505500" cy="1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00"/>
              <a:t>Leveraging </a:t>
            </a:r>
            <a:r>
              <a:rPr lang="en-GB" sz="2600" i="1" u="sng"/>
              <a:t>prefixes</a:t>
            </a:r>
            <a:r>
              <a:rPr lang="en-GB" sz="2600"/>
              <a:t> of regexes to </a:t>
            </a:r>
            <a:r>
              <a:rPr lang="en-GB" sz="2600" i="1" u="sng"/>
              <a:t>accelerate</a:t>
            </a:r>
            <a:r>
              <a:rPr lang="en-GB" sz="2600"/>
              <a:t> over parts of the string.</a:t>
            </a:r>
            <a:endParaRPr sz="2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033F1-0AF3-69D8-4318-3560023548B1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16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Prefix of regexes</a:t>
            </a:r>
            <a:endParaRPr/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533" y="1740300"/>
            <a:ext cx="3130944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32"/>
          <p:cNvCxnSpPr/>
          <p:nvPr/>
        </p:nvCxnSpPr>
        <p:spPr>
          <a:xfrm>
            <a:off x="3258675" y="2270050"/>
            <a:ext cx="293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32"/>
          <p:cNvCxnSpPr/>
          <p:nvPr/>
        </p:nvCxnSpPr>
        <p:spPr>
          <a:xfrm>
            <a:off x="4215275" y="2270050"/>
            <a:ext cx="293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2"/>
          <p:cNvCxnSpPr/>
          <p:nvPr/>
        </p:nvCxnSpPr>
        <p:spPr>
          <a:xfrm>
            <a:off x="4669250" y="2270050"/>
            <a:ext cx="293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2"/>
          <p:cNvCxnSpPr/>
          <p:nvPr/>
        </p:nvCxnSpPr>
        <p:spPr>
          <a:xfrm>
            <a:off x="3405000" y="2270050"/>
            <a:ext cx="495000" cy="399600"/>
          </a:xfrm>
          <a:prstGeom prst="curvedConnector3">
            <a:avLst>
              <a:gd name="adj1" fmla="val 4156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2"/>
          <p:cNvCxnSpPr/>
          <p:nvPr/>
        </p:nvCxnSpPr>
        <p:spPr>
          <a:xfrm flipH="1">
            <a:off x="3901200" y="2264600"/>
            <a:ext cx="478800" cy="403200"/>
          </a:xfrm>
          <a:prstGeom prst="curvedConnector3">
            <a:avLst>
              <a:gd name="adj1" fmla="val 331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2"/>
          <p:cNvCxnSpPr/>
          <p:nvPr/>
        </p:nvCxnSpPr>
        <p:spPr>
          <a:xfrm flipH="1">
            <a:off x="3901150" y="2281000"/>
            <a:ext cx="923400" cy="390600"/>
          </a:xfrm>
          <a:prstGeom prst="curvedConnector3">
            <a:avLst>
              <a:gd name="adj1" fmla="val 1683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32"/>
          <p:cNvSpPr txBox="1"/>
          <p:nvPr/>
        </p:nvSpPr>
        <p:spPr>
          <a:xfrm>
            <a:off x="2140950" y="3394175"/>
            <a:ext cx="5234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Theorem</a:t>
            </a:r>
            <a:r>
              <a:rPr lang="en-GB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all matches must start with </a:t>
            </a:r>
            <a:r>
              <a:rPr lang="en-GB" sz="18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prefix</a:t>
            </a:r>
            <a:endParaRPr sz="18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2140950" y="3934875"/>
            <a:ext cx="49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Contrapositive</a:t>
            </a:r>
            <a:r>
              <a:rPr lang="en-GB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if at some position we do not have </a:t>
            </a:r>
            <a:r>
              <a:rPr lang="en-GB" sz="18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prefix</a:t>
            </a:r>
            <a:r>
              <a:rPr lang="en-GB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a match cannot exist there</a:t>
            </a:r>
            <a:endParaRPr sz="18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1079951" y="1646400"/>
            <a:ext cx="21462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prefix(</a:t>
            </a:r>
            <a:endParaRPr sz="34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6079825" y="1646400"/>
            <a:ext cx="27051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) = </a:t>
            </a:r>
            <a:r>
              <a:rPr lang="en-GB" sz="3400">
                <a:solidFill>
                  <a:srgbClr val="38761D"/>
                </a:solidFill>
                <a:latin typeface="IBM Plex Mono"/>
                <a:ea typeface="IBM Plex Mono"/>
                <a:cs typeface="IBM Plex Mono"/>
                <a:sym typeface="IBM Plex Mono"/>
              </a:rPr>
              <a:t>"ab"</a:t>
            </a:r>
            <a:r>
              <a:rPr lang="en-GB" sz="3400">
                <a:solidFill>
                  <a:srgbClr val="38761D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sz="34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05CE3-A203-B425-DE04-EC70AB52757E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17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Unanchored PikeVM</a:t>
            </a: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body" idx="1"/>
          </p:nvPr>
        </p:nvSpPr>
        <p:spPr>
          <a:xfrm>
            <a:off x="311700" y="1863000"/>
            <a:ext cx="85206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Keep a counter of when next the prefix will match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Attach the </a:t>
            </a:r>
            <a:r>
              <a:rPr lang="en-GB">
                <a:solidFill>
                  <a:srgbClr val="45818E"/>
                </a:solidFill>
              </a:rPr>
              <a:t>𝜶</a:t>
            </a:r>
            <a:r>
              <a:rPr lang="en-GB"/>
              <a:t> state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the counter together with the </a:t>
            </a:r>
            <a:r>
              <a:rPr lang="en-GB" u="sng"/>
              <a:t>Contrapositive theorem</a:t>
            </a:r>
            <a:r>
              <a:rPr lang="en-GB"/>
              <a:t> of prefix extraction to optimize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C16DA-5CE8-769E-4FF6-E3B7CF75A583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18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000" y="63400"/>
            <a:ext cx="4928000" cy="4306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222" y="1095988"/>
            <a:ext cx="3484013" cy="41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8307" y="1074756"/>
            <a:ext cx="3484017" cy="46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9200" y="1471200"/>
            <a:ext cx="1244575" cy="3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3515" y="1706955"/>
            <a:ext cx="3484013" cy="115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8307" y="2787442"/>
            <a:ext cx="3667687" cy="667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58407" y="3425563"/>
            <a:ext cx="3604673" cy="95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41247" y="4269633"/>
            <a:ext cx="4928000" cy="895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7950" y="2096438"/>
            <a:ext cx="1313574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 txBox="1"/>
          <p:nvPr/>
        </p:nvSpPr>
        <p:spPr>
          <a:xfrm>
            <a:off x="5051400" y="1185189"/>
            <a:ext cx="91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Filtering</a:t>
            </a:r>
            <a:endParaRPr sz="1000">
              <a:solidFill>
                <a:schemeClr val="accent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5107984" y="2900125"/>
            <a:ext cx="91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Filtering</a:t>
            </a:r>
            <a:endParaRPr sz="1000">
              <a:solidFill>
                <a:schemeClr val="accent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5107975" y="3584875"/>
            <a:ext cx="91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Filtering</a:t>
            </a:r>
            <a:endParaRPr sz="1000">
              <a:solidFill>
                <a:schemeClr val="accent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3752041" y="4137647"/>
            <a:ext cx="91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Acceleration</a:t>
            </a:r>
            <a:endParaRPr sz="1000">
              <a:solidFill>
                <a:schemeClr val="accent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5243575" y="498725"/>
            <a:ext cx="126900" cy="11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3C47D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5285600" y="1094662"/>
            <a:ext cx="126900" cy="11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3C47D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1" name="Google Shape;281;p37"/>
          <p:cNvSpPr/>
          <p:nvPr/>
        </p:nvSpPr>
        <p:spPr>
          <a:xfrm>
            <a:off x="5675100" y="1745949"/>
            <a:ext cx="126900" cy="11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3C47D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5770287" y="2803711"/>
            <a:ext cx="126900" cy="11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3C47D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3" name="Google Shape;283;p37"/>
          <p:cNvSpPr/>
          <p:nvPr/>
        </p:nvSpPr>
        <p:spPr>
          <a:xfrm>
            <a:off x="5737712" y="3451187"/>
            <a:ext cx="126900" cy="115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3C47D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B8056-2605-5A53-B8FB-0BED617AF256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19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of the unanchored PikeVM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20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/>
              <a:t>Rust's regex library + rebar regex benchmark suite</a:t>
            </a:r>
            <a:r>
              <a:rPr lang="en-GB" baseline="30000" dirty="0"/>
              <a:t>2</a:t>
            </a:r>
            <a:endParaRPr baseline="300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4"/>
                </a:solidFill>
              </a:rPr>
              <a:t>Acceleration</a:t>
            </a:r>
            <a:r>
              <a:rPr lang="en-GB" dirty="0"/>
              <a:t>: up to 600× speed up!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4"/>
                </a:solidFill>
              </a:rPr>
              <a:t>Filtering</a:t>
            </a:r>
            <a:r>
              <a:rPr lang="en-GB" dirty="0"/>
              <a:t> (</a:t>
            </a:r>
            <a:r>
              <a:rPr lang="en-GB" b="1" dirty="0"/>
              <a:t>novel</a:t>
            </a:r>
            <a:r>
              <a:rPr lang="en-GB" dirty="0"/>
              <a:t>): up to 20× speed up!</a:t>
            </a:r>
            <a:endParaRPr sz="900" dirty="0"/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14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Analyzed a corpora of 1,5 million regexes</a:t>
            </a:r>
            <a:r>
              <a:rPr lang="en-GB" baseline="30000"/>
              <a:t>3</a:t>
            </a:r>
            <a:endParaRPr baseline="300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66% of those have a meaningful prefix</a:t>
            </a:r>
            <a:endParaRPr sz="1000"/>
          </a:p>
        </p:txBody>
      </p:sp>
      <p:sp>
        <p:nvSpPr>
          <p:cNvPr id="291" name="Google Shape;291;p38"/>
          <p:cNvSpPr txBox="1">
            <a:spLocks noGrp="1"/>
          </p:cNvSpPr>
          <p:nvPr>
            <p:ph type="body" idx="1"/>
          </p:nvPr>
        </p:nvSpPr>
        <p:spPr>
          <a:xfrm>
            <a:off x="1502510" y="3868116"/>
            <a:ext cx="6138979" cy="586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rgbClr val="C27BA0"/>
                </a:solidFill>
              </a:rPr>
              <a:t>Verified unanchored </a:t>
            </a:r>
            <a:r>
              <a:rPr lang="en-GB" dirty="0" err="1">
                <a:solidFill>
                  <a:srgbClr val="C27BA0"/>
                </a:solidFill>
              </a:rPr>
              <a:t>PikeVM</a:t>
            </a:r>
            <a:r>
              <a:rPr lang="en-GB" dirty="0">
                <a:solidFill>
                  <a:srgbClr val="C27BA0"/>
                </a:solidFill>
              </a:rPr>
              <a:t>, well known acceleration, </a:t>
            </a:r>
            <a:r>
              <a:rPr lang="en-GB" u="sng" dirty="0">
                <a:solidFill>
                  <a:srgbClr val="C27BA0"/>
                </a:solidFill>
              </a:rPr>
              <a:t>novel</a:t>
            </a:r>
            <a:r>
              <a:rPr lang="en-GB" dirty="0">
                <a:solidFill>
                  <a:srgbClr val="C27BA0"/>
                </a:solidFill>
              </a:rPr>
              <a:t> filtering</a:t>
            </a:r>
            <a:endParaRPr sz="2400" dirty="0">
              <a:solidFill>
                <a:srgbClr val="C27BA0"/>
              </a:solidFill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4471225" y="4530450"/>
            <a:ext cx="461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aseline="30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lang="en-GB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https://github.com/LindenRegex/rebar/tree/mw/prefix-acc-cmp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aseline="30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lang="en-GB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https://doi.org/10.1145/3236024.3236027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1927050" y="2718025"/>
            <a:ext cx="528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u="sng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lang="en-GB" sz="24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most important optimization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BC781-DE43-79F6-D487-5D9AE29CB53A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20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Unanchored PikeVM verification challenge</a:t>
            </a:r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body" idx="1"/>
          </p:nvPr>
        </p:nvSpPr>
        <p:spPr>
          <a:xfrm>
            <a:off x="1276500" y="2293450"/>
            <a:ext cx="6591000" cy="1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00"/>
              <a:t>The existing proof pipeline is </a:t>
            </a:r>
            <a:r>
              <a:rPr lang="en-GB" sz="2600" b="1"/>
              <a:t>large</a:t>
            </a:r>
            <a:r>
              <a:rPr lang="en-GB" sz="2600"/>
              <a:t>, we want to </a:t>
            </a:r>
            <a:r>
              <a:rPr lang="en-GB" sz="2600" u="sng"/>
              <a:t>reuse</a:t>
            </a:r>
            <a:r>
              <a:rPr lang="en-GB" sz="2600"/>
              <a:t> as much as possible.</a:t>
            </a:r>
            <a:endParaRPr sz="2600"/>
          </a:p>
        </p:txBody>
      </p:sp>
      <p:sp>
        <p:nvSpPr>
          <p:cNvPr id="300" name="Google Shape;300;p39"/>
          <p:cNvSpPr txBox="1">
            <a:spLocks noGrp="1"/>
          </p:cNvSpPr>
          <p:nvPr>
            <p:ph type="body" idx="1"/>
          </p:nvPr>
        </p:nvSpPr>
        <p:spPr>
          <a:xfrm>
            <a:off x="895950" y="3643225"/>
            <a:ext cx="7352100" cy="10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Success:</a:t>
            </a:r>
            <a:endParaRPr sz="200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anchored PikeVM ⇔ unanchored PikeVM with counter = ∞</a:t>
            </a:r>
            <a:endParaRPr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D89B0-9351-2E33-3009-F691668426B6}"/>
              </a:ext>
            </a:extLst>
          </p:cNvPr>
          <p:cNvSpPr txBox="1"/>
          <p:nvPr/>
        </p:nvSpPr>
        <p:spPr>
          <a:xfrm>
            <a:off x="6296526" y="96253"/>
            <a:ext cx="2823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 Prefix acceleration    |    21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5427-10D6-A403-26F4-274282154C89}"/>
              </a:ext>
            </a:extLst>
          </p:cNvPr>
          <p:cNvSpPr txBox="1"/>
          <p:nvPr/>
        </p:nvSpPr>
        <p:spPr>
          <a:xfrm>
            <a:off x="6825916" y="96253"/>
            <a:ext cx="229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Conclusions     |    22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391" name="Google Shape;391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Proved the correctness of an unanchored </a:t>
            </a:r>
            <a:r>
              <a:rPr lang="en-GB" dirty="0" err="1"/>
              <a:t>PikeVM</a:t>
            </a:r>
            <a:r>
              <a:rPr lang="en-GB" dirty="0"/>
              <a:t> utilizing prefix acceleration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b="1" dirty="0"/>
              <a:t>Novel</a:t>
            </a:r>
            <a:r>
              <a:rPr lang="en-GB" dirty="0"/>
              <a:t> extension through </a:t>
            </a:r>
            <a:r>
              <a:rPr lang="en-GB" dirty="0">
                <a:solidFill>
                  <a:schemeClr val="accent4"/>
                </a:solidFill>
              </a:rPr>
              <a:t>filtering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 dirty="0"/>
              <a:t>Realistic </a:t>
            </a:r>
            <a:r>
              <a:rPr lang="en-GB" dirty="0"/>
              <a:t>regex matching algorithm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Everything formalized in </a:t>
            </a:r>
            <a:r>
              <a:rPr lang="en-GB" dirty="0" err="1"/>
              <a:t>Rocq</a:t>
            </a:r>
            <a:endParaRPr dirty="0"/>
          </a:p>
        </p:txBody>
      </p:sp>
      <p:sp>
        <p:nvSpPr>
          <p:cNvPr id="392" name="Google Shape;392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Contribute </a:t>
            </a:r>
            <a:r>
              <a:rPr lang="en-GB" dirty="0">
                <a:solidFill>
                  <a:schemeClr val="accent4"/>
                </a:solidFill>
              </a:rPr>
              <a:t>filtering </a:t>
            </a:r>
            <a:r>
              <a:rPr lang="en-GB" dirty="0">
                <a:solidFill>
                  <a:schemeClr val="dk1"/>
                </a:solidFill>
              </a:rPr>
              <a:t>to rust regex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 err="1"/>
              <a:t>Lookarounds</a:t>
            </a:r>
            <a:r>
              <a:rPr lang="en-GB" dirty="0"/>
              <a:t> in </a:t>
            </a:r>
            <a:r>
              <a:rPr lang="en-GB" dirty="0" err="1"/>
              <a:t>PikeVM</a:t>
            </a:r>
            <a:r>
              <a:rPr lang="en-GB" dirty="0"/>
              <a:t> (ongoing)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Verified extraction to a library (ongoing)</a:t>
            </a:r>
            <a:endParaRPr dirty="0"/>
          </a:p>
        </p:txBody>
      </p:sp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48324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7BE33-6406-9D01-F355-A46C0A25834A}"/>
              </a:ext>
            </a:extLst>
          </p:cNvPr>
          <p:cNvSpPr txBox="1"/>
          <p:nvPr/>
        </p:nvSpPr>
        <p:spPr>
          <a:xfrm>
            <a:off x="6825916" y="96253"/>
            <a:ext cx="229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Conclusions     |    23 of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Documentation</a:t>
            </a:r>
            <a:endParaRPr/>
          </a:p>
        </p:txBody>
      </p:sp>
      <p:sp>
        <p:nvSpPr>
          <p:cNvPr id="401" name="Google Shape;401;p5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39528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Report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This presentation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Progress reports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Permalinks for: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Rocq formalization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Rust regex implementation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Regex benchmarks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Frequency analysis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Everything needed to reproduce the results</a:t>
            </a:r>
            <a:endParaRPr sz="1600"/>
          </a:p>
        </p:txBody>
      </p:sp>
      <p:pic>
        <p:nvPicPr>
          <p:cNvPr id="402" name="Google Shape;402;p50" title="qrcode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900" y="1311311"/>
            <a:ext cx="3063250" cy="30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0"/>
          <p:cNvSpPr txBox="1"/>
          <p:nvPr/>
        </p:nvSpPr>
        <p:spPr>
          <a:xfrm>
            <a:off x="4058575" y="4243691"/>
            <a:ext cx="49839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  <a:hlinkClick r:id="rId4"/>
              </a:rPr>
              <a:t>https://github.com/shilangyu/pikevm-systemf</a:t>
            </a:r>
            <a:r>
              <a:rPr lang="en-GB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18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E10EF-B366-6502-6047-0475D19CFB43}"/>
              </a:ext>
            </a:extLst>
          </p:cNvPr>
          <p:cNvSpPr txBox="1"/>
          <p:nvPr/>
        </p:nvSpPr>
        <p:spPr>
          <a:xfrm>
            <a:off x="6825916" y="96253"/>
            <a:ext cx="229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Conclusions     |    24 of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FBBB-C028-74EA-55C3-7C11DA40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Merci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5E4BD-1848-7EEE-1BC7-5E3C7B9CBE7A}"/>
              </a:ext>
            </a:extLst>
          </p:cNvPr>
          <p:cNvSpPr txBox="1"/>
          <p:nvPr/>
        </p:nvSpPr>
        <p:spPr>
          <a:xfrm>
            <a:off x="7355304" y="96253"/>
            <a:ext cx="1764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IBM Plex Sans" panose="020B0503050203000203" pitchFamily="34" charset="0"/>
              </a:rPr>
              <a:t>Merci     |    25 of 25</a:t>
            </a:r>
          </a:p>
        </p:txBody>
      </p:sp>
    </p:spTree>
    <p:extLst>
      <p:ext uri="{BB962C8B-B14F-4D97-AF65-F5344CB8AC3E}">
        <p14:creationId xmlns:p14="http://schemas.microsoft.com/office/powerpoint/2010/main" val="22148702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4C4F69"/>
      </a:dk1>
      <a:lt1>
        <a:srgbClr val="EFF1F5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4549</TotalTime>
  <Words>911</Words>
  <Application>Microsoft Macintosh PowerPoint</Application>
  <PresentationFormat>On-screen Show (16:9)</PresentationFormat>
  <Paragraphs>177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IBM Plex Sans</vt:lpstr>
      <vt:lpstr>Arial</vt:lpstr>
      <vt:lpstr>IBM Plex Mono</vt:lpstr>
      <vt:lpstr>Century Schoolbook</vt:lpstr>
      <vt:lpstr>Simple Light</vt:lpstr>
      <vt:lpstr>Now you have zero problems: Verification of realistic regex matching</vt:lpstr>
      <vt:lpstr>PowerPoint Presentation</vt:lpstr>
      <vt:lpstr>PowerPoint Presentation</vt:lpstr>
      <vt:lpstr>Modern syntax</vt:lpstr>
      <vt:lpstr>Modern semantics: fundamental questions</vt:lpstr>
      <vt:lpstr>Are backtracking semantics used by anyone?</vt:lpstr>
      <vt:lpstr>Why formalize?</vt:lpstr>
      <vt:lpstr>Previous work</vt:lpstr>
      <vt:lpstr>Modern optimizations</vt:lpstr>
      <vt:lpstr>Previous work</vt:lpstr>
      <vt:lpstr>Verification of realistic regex matching</vt:lpstr>
      <vt:lpstr>Agenda</vt:lpstr>
      <vt:lpstr>PikeVM</vt:lpstr>
      <vt:lpstr>PowerPoint Presentation</vt:lpstr>
      <vt:lpstr>PowerPoint Presentation</vt:lpstr>
      <vt:lpstr>How to make the PikeVM unanchored?</vt:lpstr>
      <vt:lpstr>Prefix acceleration</vt:lpstr>
      <vt:lpstr>Prefix of regexes</vt:lpstr>
      <vt:lpstr>Unanchored PikeVM</vt:lpstr>
      <vt:lpstr>PowerPoint Presentation</vt:lpstr>
      <vt:lpstr>Evaluation of the unanchored PikeVM</vt:lpstr>
      <vt:lpstr>Unanchored PikeVM verification challenge</vt:lpstr>
      <vt:lpstr>Conclusion</vt:lpstr>
      <vt:lpstr>Conclusion</vt:lpstr>
      <vt:lpstr>Documentation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Marcin Ludwik Wojnarowski</cp:lastModifiedBy>
  <cp:revision>3</cp:revision>
  <dcterms:modified xsi:type="dcterms:W3CDTF">2026-02-24T13:39:21Z</dcterms:modified>
</cp:coreProperties>
</file>